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832" y="0"/>
            <a:ext cx="305816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3581400"/>
            <a:ext cx="52832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51200" y="1447800"/>
            <a:ext cx="52832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777318" y="6426202"/>
            <a:ext cx="3759199" cy="12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53301" y="6400800"/>
            <a:ext cx="609600" cy="152400"/>
          </a:xfrm>
        </p:spPr>
        <p:txBody>
          <a:bodyPr/>
          <a:lstStyle>
            <a:lvl1pPr algn="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4775201" y="6296248"/>
            <a:ext cx="3761316" cy="152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48768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3058168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119718" y="6426202"/>
            <a:ext cx="3759199" cy="12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5488517" y="6400800"/>
            <a:ext cx="711200" cy="152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117601" y="6296248"/>
            <a:ext cx="3761316" cy="152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3578225"/>
            <a:ext cx="4267527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4290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572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5238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675288"/>
            <a:ext cx="47752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" y="3429000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" y="3840162"/>
            <a:ext cx="47752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0" y="457200"/>
            <a:ext cx="52832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0" y="1676401"/>
            <a:ext cx="33528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76400"/>
            <a:ext cx="6266688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1" y="1676400"/>
            <a:ext cx="6262623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08800" y="1676400"/>
            <a:ext cx="33528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764925" y="0"/>
            <a:ext cx="427076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0" y="457200"/>
            <a:ext cx="37592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1"/>
            <a:ext cx="48768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363200" y="6400800"/>
            <a:ext cx="711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502402" y="6426202"/>
            <a:ext cx="37591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6500285" y="6296248"/>
            <a:ext cx="3761316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" y="0"/>
            <a:ext cx="12191695" cy="6858000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2"/>
            <a:ext cx="1078992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Aircraft-Engine Remaining Useful Life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DCE7F4"/>
                </a:solidFill>
              </a:defRPr>
            </a:pPr>
            <a:r>
              <a:t>Comparative Evaluation of Random Forest, XGBoost and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NASA C-MAPSS FD001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D6E8"/>
                </a:solidFill>
              </a:defRPr>
            </a:pPr>
            <a:r>
              <a:t>MSc Data Science &amp;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5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8D6E8"/>
                </a:solidFill>
              </a:defRPr>
            </a:pPr>
            <a:r>
              <a:t>Dissertation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45103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rPr dirty="0"/>
              <a:t>1. Background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310896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232A34"/>
                </a:solidFill>
              </a:defRPr>
            </a:pPr>
            <a:r>
              <a:rPr lang="en-US" sz="1350" dirty="0"/>
              <a:t>Aircraft engines vary in operation and are often subjected to different conditions. Being able to predict when the engine's useful life is drawing to a close would help in scheduling maintenance works.</a:t>
            </a:r>
          </a:p>
          <a:p>
            <a:pPr algn="l">
              <a:defRPr sz="1350" b="0">
                <a:solidFill>
                  <a:srgbClr val="232A34"/>
                </a:solidFill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39903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Why RUL?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01371"/>
            <a:ext cx="3108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Remaining Useful Life (RUL) is a measure of an engine's remaining expected life before breakdown or the time of its life cycle 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234440"/>
            <a:ext cx="347472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39903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Research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801370"/>
            <a:ext cx="3108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dissertation is evaluating FD001 by comparing machine learning algorithms to LSTM-based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B4A"/>
                </a:solidFill>
              </a:defRPr>
            </a:pPr>
            <a:r>
              <a:t>Core idea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5196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441655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Sensor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2263" y="443484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79" y="425196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13432" y="4416554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3" y="443484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25196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59352" y="441655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RUL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443484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425196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05272" y="441655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ML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023" y="443484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425196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51192" y="441655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rPr dirty="0"/>
              <a:t>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61457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2. Aim, Objectives and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5"/>
            <a:ext cx="10972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066AC"/>
                </a:solidFill>
              </a:defRPr>
            </a:pPr>
            <a: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6"/>
            <a:ext cx="9326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Assessing machine-learning methods for estimating the remaining useful life of aircraft engines through the use of NASA C-MAPSS FD001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5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066AC"/>
                </a:solidFill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3"/>
            <a:ext cx="10332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Carried out a comprehensive comparison of machine-learning approaches for aircraft-engine remaining-useful-life (RUL) prediction using NASA C-MAPSS FD001.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Fetched, formatted and pre-processed FD001 sensor data for the experiments.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Designed the RUL target and laid out an experiment plan for reproducibility.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Machine learning: Random Forests, </a:t>
            </a:r>
            <a:r>
              <a:rPr lang="en-US" dirty="0" err="1"/>
              <a:t>XGBoost</a:t>
            </a:r>
            <a:r>
              <a:rPr lang="en-US" dirty="0"/>
              <a:t> and LSTM.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Models have been evaluated from the standpoint of MAE, RMSE, R², and NASA PHM08 scores.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From results interpretation, limitations have been pointed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82186"/>
            <a:ext cx="2194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066AC"/>
                </a:solidFill>
              </a:defRPr>
            </a:pPr>
            <a:r>
              <a:rPr dirty="0"/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5029205"/>
            <a:ext cx="868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A34"/>
                </a:solidFill>
              </a:defRPr>
            </a:pPr>
            <a:r>
              <a:rPr dirty="0"/>
              <a:t>Which of the evaluated models provides the strongest RUL prediction performance on FD001 under the defined experimental setup?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56258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3. Literature Review and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Traditional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01370"/>
            <a:ext cx="310896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Methods such as Random Forest and boosting which are based on tree algorithms can learn nonlinear relationships even from features created by the user or from a database with few attributes only (tabular features).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39903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01370"/>
            <a:ext cx="310896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LSTM networks are a special kind of feed forward neural network architecture specifically created to deal with </a:t>
            </a:r>
            <a:r>
              <a:rPr lang="en-US" sz="1400" dirty="0" smtClean="0"/>
              <a:t>sequential </a:t>
            </a:r>
            <a:r>
              <a:rPr lang="en-US" sz="1400" dirty="0"/>
              <a:t>data. They have memory features that allow them to track temporal dependence of sequential data from sensors.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234440"/>
            <a:ext cx="347472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39903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Gap addressed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801374"/>
            <a:ext cx="3108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The research offers a fair comparison of RF, </a:t>
            </a:r>
            <a:r>
              <a:rPr lang="en-US" sz="1400" dirty="0" err="1"/>
              <a:t>XGBoost</a:t>
            </a:r>
            <a:r>
              <a:rPr lang="en-US" sz="1400" dirty="0"/>
              <a:t> and LSTM methods through the same evaluation set and using FD001 data as a benchmark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2"/>
            <a:ext cx="10241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most vital point to highlight in the presentation is that model performance is a function of many factors </a:t>
            </a:r>
            <a:r>
              <a:rPr lang="en-US" dirty="0" smtClean="0"/>
              <a:t>besides the algorithm</a:t>
            </a:r>
            <a:r>
              <a:rPr lang="en-US" dirty="0"/>
              <a:t>. </a:t>
            </a:r>
            <a:r>
              <a:rPr lang="en-US" dirty="0" smtClean="0"/>
              <a:t>The data preparation </a:t>
            </a:r>
            <a:r>
              <a:rPr lang="en-US" dirty="0"/>
              <a:t>as well as the target construction and evaluation design will have a </a:t>
            </a:r>
            <a:r>
              <a:rPr lang="en-US" dirty="0" smtClean="0"/>
              <a:t>major influence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485152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4. Dataset: NASA C-MAPSS FD001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Training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2926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20,631 records × 26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39903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01368"/>
            <a:ext cx="2926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13,096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39903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Test RUL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01368"/>
            <a:ext cx="292608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100 final RUL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4"/>
            <a:ext cx="102412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FD001 illustrates just the one scenario of the system in motion while the machine is malfunctioning.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During the whole engine run cycles, data from the sensors are kept.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To sum up, after excluding some of those sensor inputs and settings, </a:t>
            </a:r>
            <a:r>
              <a:rPr lang="en-US" dirty="0" smtClean="0"/>
              <a:t>only sensor </a:t>
            </a:r>
            <a:r>
              <a:rPr lang="en-US" dirty="0"/>
              <a:t>inputs or features were used.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Only up to 456 RUL was considered so as to minimize the impact from too large targets at early-life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377648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5. Research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9339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FD001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3" y="201168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79" y="182880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2" y="199339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3" y="201168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82880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59352" y="1993394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Feature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201168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82880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5272" y="1993392"/>
            <a:ext cx="1362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RUL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3" y="201168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82880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51192" y="1993394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Train/validation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201168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59" y="1828800"/>
            <a:ext cx="150876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97111" y="1993392"/>
            <a:ext cx="1362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RF / XGB / LSTM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1863" y="2011680"/>
            <a:ext cx="13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66AC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69880" y="1828800"/>
            <a:ext cx="1246404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30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43032" y="1993397"/>
            <a:ext cx="1362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62B4A"/>
                </a:solidFill>
              </a:defRPr>
            </a:pPr>
            <a:r>
              <a:t>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63240"/>
            <a:ext cx="3279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B4A"/>
                </a:solidFill>
              </a:defRPr>
            </a:pPr>
            <a:r>
              <a:rPr dirty="0"/>
              <a:t>Experimental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99463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An engine-level validation split with 80/20 proportion was carried out at random.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Tree models rely on engineered or tabular representations.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LSTM is built upon fixed-length input sequences.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We compared different models fairly since they used the same metric, reported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68608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6. Data Preprocessing and 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Feature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01374"/>
            <a:ext cx="30175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rPr dirty="0"/>
              <a:t>Dropped </a:t>
            </a:r>
            <a:r>
              <a:rPr dirty="0" smtClean="0"/>
              <a:t>setting</a:t>
            </a:r>
            <a:r>
              <a:rPr lang="en-US" dirty="0" smtClean="0"/>
              <a:t> </a:t>
            </a:r>
            <a:r>
              <a:rPr dirty="0" smtClean="0"/>
              <a:t>3 </a:t>
            </a:r>
            <a:r>
              <a:rPr dirty="0"/>
              <a:t>and sensors 1, 5, 10, 16, 18 and 19; 17 features retained.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234440"/>
            <a:ext cx="338328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Target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01373"/>
            <a:ext cx="30175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RUL values were derived from engine cycle information and capped at 125.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234440"/>
            <a:ext cx="338328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5" y="1399032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Sequence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1801373"/>
            <a:ext cx="30175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LSTM input used a sequence length of 30 cycles.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B4A"/>
                </a:solidFill>
              </a:defRPr>
            </a:pPr>
            <a:r>
              <a:t>Reproducibility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5"/>
            <a:ext cx="48463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Random state: 42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Validation: 80/20 engine split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CPU-only experiment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rPr dirty="0"/>
              <a:t>Results saved under: results_fd001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79476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B4A"/>
                </a:solidFill>
              </a:defRPr>
            </a:pPr>
            <a:r>
              <a:t>Evaluation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160525"/>
            <a:ext cx="43891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MAE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RMSE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R²</a:t>
            </a:r>
          </a:p>
          <a:p>
            <a:pPr>
              <a:spcAft>
                <a:spcPts val="1000"/>
              </a:spcAft>
              <a:defRPr sz="1500">
                <a:solidFill>
                  <a:srgbClr val="232A34"/>
                </a:solidFill>
              </a:defRPr>
            </a:pPr>
            <a:r>
              <a:t>NASA PHM08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5"/>
            <a:ext cx="232095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7. Models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7"/>
            <a:ext cx="3108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Ensemble of decision trees.</a:t>
            </a:r>
          </a:p>
          <a:p>
            <a:r>
              <a:rPr lang="en-US" dirty="0"/>
              <a:t>Advantages: good for tabular data, reliable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9047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92807"/>
            <a:ext cx="3108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Gradient-boosted</a:t>
            </a:r>
          </a:p>
          <a:p>
            <a:r>
              <a:rPr lang="en-US" dirty="0"/>
              <a:t>decision trees.</a:t>
            </a:r>
          </a:p>
          <a:p>
            <a:r>
              <a:rPr lang="en-US" dirty="0"/>
              <a:t>Advantages: through boosting step by step, it can learn complex nonlinear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325880"/>
            <a:ext cx="347472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490472"/>
            <a:ext cx="3108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892812"/>
            <a:ext cx="310896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rPr dirty="0"/>
              <a:t>Long Short-Term Memory network.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Architecture used: 64/32 LSTM units, dropout 0.2, dense 16; up to 50 epochs with early stopping patience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3" y="320045"/>
            <a:ext cx="37968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8. Results: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77464" y="6473957"/>
            <a:ext cx="243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A"/>
                </a:solidFill>
              </a:defRPr>
            </a:pPr>
            <a:r>
              <a:t>Random Forest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12.5250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74519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20391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414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17.4180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74519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0391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4414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0.6011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1874519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79" y="20391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t>PHM08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79" y="24414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190,859.91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66AC"/>
                </a:solidFill>
              </a:defRPr>
            </a:pPr>
            <a: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0584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Provide a good nonlinear baseline.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R² shows that a large part of RUL variation is captured.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Performance was weaker than the LSTM results reported for the selected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5"/>
            <a:ext cx="290393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9. Results: XGBoost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18152" y="6473957"/>
            <a:ext cx="3032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12.2332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17.4143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0.6013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79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5A"/>
                </a:solidFill>
              </a:defRPr>
            </a:pPr>
            <a:r>
              <a:t>PHM08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79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231,988.13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7D5A"/>
                </a:solidFill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6"/>
            <a:ext cx="1005840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rPr lang="en-US" dirty="0"/>
              <a:t>MAE is slightly lower than Random Forest.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rPr lang="en-US" dirty="0"/>
              <a:t>R² is very close to Random Forest.</a:t>
            </a:r>
          </a:p>
          <a:p>
            <a:pPr>
              <a:spcAft>
                <a:spcPts val="1000"/>
              </a:spcAft>
              <a:defRPr sz="1600">
                <a:solidFill>
                  <a:srgbClr val="232A34"/>
                </a:solidFill>
              </a:defRPr>
            </a:pPr>
            <a:r>
              <a:rPr lang="en-US" dirty="0"/>
              <a:t>The reported PHM08 score is higher than Random Forest in the dissertation results.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5"/>
            <a:ext cx="26169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10. Results: LSTM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18152" y="6473957"/>
            <a:ext cx="3032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10.7976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15.9693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0.7114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1417320"/>
            <a:ext cx="24688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79" y="158191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PHM08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79" y="1984248"/>
            <a:ext cx="2103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232A34"/>
                </a:solidFill>
              </a:defRPr>
            </a:pPr>
            <a:r>
              <a:t>72,247.63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57F34"/>
                </a:solidFill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4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Lowest MAE and RMSE among three tested models.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Best R² reported in the experiment.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Lowest stated NASA PHM08 score, which means it was the weakest one at that metric according to that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5"/>
            <a:ext cx="40192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11. Comparative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18152" y="6473957"/>
            <a:ext cx="3032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6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6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6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PHM08</a:t>
                      </a:r>
                    </a:p>
                  </a:txBody>
                  <a:tcPr>
                    <a:solidFill>
                      <a:srgbClr val="162B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12.5250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17.4180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0.6011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190,859.91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12.2332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17.4143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0.6013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231,988.13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10.7976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15.9693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0.7114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A34"/>
                          </a:solidFill>
                        </a:defRPr>
                      </a:pPr>
                      <a:r>
                        <a:t>72,247.63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52628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B4A"/>
                </a:solidFill>
              </a:defRPr>
            </a:pPr>
            <a:r>
              <a:t>Main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4462277"/>
            <a:ext cx="8778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A34"/>
                </a:solidFill>
              </a:defRPr>
            </a:pPr>
            <a:r>
              <a:rPr dirty="0"/>
              <a:t>Across the reported metrics, the LSTM achieved the strongest overall performance in this FD001 experiment.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4" y="320045"/>
            <a:ext cx="46594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12. Discussion and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18152" y="6473957"/>
            <a:ext cx="3032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1"/>
            <a:ext cx="1033272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With respect to MAE, LSTM performed better than the tree models: 10.7976, to 12.5250 for Random Forest, and 12.2332 for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Also, the highest R² value 0.7114 was reported by the LSTM model with an approximate 0.60 by each tree model. 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outcomes are in favor of the sequential modeling technique to predict the temporal sensor pattern represented in data from FD001 sensor.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it's </a:t>
            </a:r>
            <a:r>
              <a:rPr lang="en-US" dirty="0"/>
              <a:t>true that both Random Forest and Gradient Boosted Trees models are capable of giving results that do not significantly differ from those of the first-class methods in tabular data </a:t>
            </a:r>
            <a:r>
              <a:rPr lang="en-US" dirty="0" smtClean="0"/>
              <a:t>processing.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At </a:t>
            </a:r>
            <a:r>
              <a:rPr lang="en-US" dirty="0"/>
              <a:t>the same time, they take less time to run which is very convenient, especially when it comes to simpler problems.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The analysis was mainly based on the dataset FD001 and the experimental methodology described in this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4" y="320045"/>
            <a:ext cx="602697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13. Practical Implications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18152" y="6473957"/>
            <a:ext cx="3032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3" y="1234440"/>
            <a:ext cx="5429999" cy="4807436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007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66AC"/>
                </a:solidFill>
              </a:defRPr>
            </a:pPr>
            <a:r>
              <a:rPr dirty="0"/>
              <a:t>Practical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4846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•RUL prediction enables you to plan the </a:t>
            </a:r>
            <a:r>
              <a:rPr lang="en-US" sz="1600" dirty="0" smtClean="0"/>
              <a:t>condition based </a:t>
            </a:r>
            <a:r>
              <a:rPr lang="en-US" sz="1600" dirty="0"/>
              <a:t>maintenance more effectively.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•If deterioration is detected early, you have enough time to arrange resources for inspection and maintenance.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•When selecting model types, predictive accuracy, computational cost, and deployment constraints are some of the factors that should be </a:t>
            </a:r>
            <a:r>
              <a:rPr lang="en-US" sz="1600" dirty="0" smtClean="0"/>
              <a:t>prioritized.</a:t>
            </a:r>
            <a:endParaRPr lang="en-US"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6263640" y="1234441"/>
            <a:ext cx="5303520" cy="4807437"/>
          </a:xfrm>
          <a:prstGeom prst="roundRect">
            <a:avLst/>
          </a:prstGeom>
          <a:solidFill>
            <a:srgbClr val="F1F5F9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68309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57F34"/>
                </a:solidFill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9"/>
            <a:ext cx="4846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• Evaluation was performed exclusively on NASA C-MAPSS FD001.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• FD001 is the case of a highly controlled simulation, not actually representative of a full-scale fleet in the real world.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• The study was limited to evaluating three methods only, namely, RF (Random Forest), </a:t>
            </a:r>
            <a:r>
              <a:rPr lang="en-US" sz="1400" dirty="0" err="1"/>
              <a:t>XGBoost</a:t>
            </a:r>
            <a:r>
              <a:rPr lang="en-US" sz="1400" dirty="0"/>
              <a:t>, and LSTM (Long Short-Term Memory</a:t>
            </a:r>
            <a:r>
              <a:rPr lang="en-US" sz="14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 smtClean="0"/>
              <a:t>• </a:t>
            </a:r>
            <a:r>
              <a:rPr lang="en-US" sz="1400" dirty="0"/>
              <a:t>Performance results are influenced by pre-processing steps, chosen features, RUL (Remaining Useful Life) cap limits, and cross-validation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5"/>
            <a:ext cx="467602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B4A"/>
                </a:solidFill>
              </a:defRPr>
            </a:pPr>
            <a:r>
              <a:t>14. Conclusion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972800" cy="41148"/>
          </a:xfrm>
          <a:prstGeom prst="rect">
            <a:avLst/>
          </a:prstGeom>
          <a:solidFill>
            <a:srgbClr val="30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18152" y="6473957"/>
            <a:ext cx="3032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776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5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066A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study came up with an RUL prediction pipeline, which was tested and verified in different runs and gave the same results for NASA C-MAPSS FD001.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 the study, Random Forest (RF) and </a:t>
            </a:r>
            <a:r>
              <a:rPr lang="en-US" dirty="0" err="1"/>
              <a:t>XGBoost</a:t>
            </a:r>
            <a:r>
              <a:rPr lang="en-US" dirty="0"/>
              <a:t> were found to be good representatives of conventional ML methods.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Long Short-Term Memory (LSTM) model yielded the best-performing results for most of the metrics used in this study, that is, MAE, RMSE, R², and PHM08.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2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066AC"/>
                </a:solidFill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4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Evaluate new </a:t>
            </a:r>
            <a:r>
              <a:rPr lang="en-US" dirty="0" smtClean="0"/>
              <a:t>C-MAPSS operational </a:t>
            </a:r>
            <a:r>
              <a:rPr lang="en-US" dirty="0"/>
              <a:t>conditions plus failure situations.</a:t>
            </a:r>
          </a:p>
          <a:p>
            <a:pPr>
              <a:lnSpc>
                <a:spcPct val="150000"/>
              </a:lnSpc>
            </a:pPr>
            <a:r>
              <a:rPr lang="en-US" dirty="0"/>
              <a:t>Do research on better </a:t>
            </a:r>
            <a:r>
              <a:rPr lang="en-US" dirty="0" smtClean="0"/>
              <a:t>design of </a:t>
            </a:r>
            <a:r>
              <a:rPr lang="en-US" dirty="0"/>
              <a:t>sequence models as well </a:t>
            </a:r>
            <a:r>
              <a:rPr lang="en-US" dirty="0" smtClean="0"/>
              <a:t>as finding </a:t>
            </a:r>
            <a:r>
              <a:rPr lang="en-US" dirty="0"/>
              <a:t>the best parameters </a:t>
            </a:r>
            <a:r>
              <a:rPr lang="en-US" dirty="0" smtClean="0"/>
              <a:t>(hyper parameter optimization).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Check the model </a:t>
            </a:r>
            <a:r>
              <a:rPr lang="en-US" dirty="0" smtClean="0"/>
              <a:t>performance on </a:t>
            </a:r>
            <a:r>
              <a:rPr lang="en-US" dirty="0"/>
              <a:t>the data collected in real life from engine-monitoring.</a:t>
            </a:r>
          </a:p>
          <a:p>
            <a:pPr>
              <a:lnSpc>
                <a:spcPct val="150000"/>
              </a:lnSpc>
            </a:pPr>
            <a:r>
              <a:rPr lang="en-US" dirty="0"/>
              <a:t>Explore RUL forecasts that are aware of </a:t>
            </a:r>
            <a:r>
              <a:rPr lang="en-US" dirty="0" smtClean="0"/>
              <a:t>uncertainty for </a:t>
            </a:r>
            <a:r>
              <a:rPr lang="en-US" dirty="0"/>
              <a:t>helping maintenance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29</TotalTime>
  <Words>1368</Words>
  <Application>Microsoft Office PowerPoint</Application>
  <PresentationFormat>Custom</PresentationFormat>
  <Paragraphs>203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Composite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Sharma</dc:creator>
  <dc:description>generated using python-pptx</dc:description>
  <cp:lastModifiedBy>Amit Sharma</cp:lastModifiedBy>
  <cp:revision>7</cp:revision>
  <dcterms:created xsi:type="dcterms:W3CDTF">2013-01-27T09:14:16Z</dcterms:created>
  <dcterms:modified xsi:type="dcterms:W3CDTF">2026-09-21T10:47:05Z</dcterms:modified>
</cp:coreProperties>
</file>